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3" r:id="rId6"/>
    <p:sldId id="269" r:id="rId7"/>
    <p:sldId id="264" r:id="rId8"/>
    <p:sldId id="270" r:id="rId9"/>
    <p:sldId id="274" r:id="rId10"/>
    <p:sldId id="265" r:id="rId11"/>
    <p:sldId id="271" r:id="rId12"/>
    <p:sldId id="266" r:id="rId13"/>
    <p:sldId id="267" r:id="rId14"/>
    <p:sldId id="268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435" y="-3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C5217A8-0E06-4059-AC45-433E2E67A85D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pPr eaLnBrk="1" latinLnBrk="0" hangingPunct="1"/>
            <a:fld id="{F8CFA630-13BB-46C4-BD44-B2C5F9B66074}" type="datetimeFigureOut">
              <a:rPr lang="en-US" smtClean="0"/>
              <a:pPr eaLnBrk="1" latinLnBrk="0" hangingPunct="1"/>
              <a:t>3/7/2026</a:t>
            </a:fld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000" dirty="0">
              <a:solidFill>
                <a:schemeClr val="tx2"/>
              </a:solidFill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 algn="r" eaLnBrk="1" latinLnBrk="0" hangingPunct="1"/>
            <a:fld id="{BC5217A8-0E06-4059-AC45-433E2E67A85D}" type="slidenum">
              <a:rPr kumimoji="0" lang="en-US" smtClean="0"/>
              <a:pPr algn="r" eaLnBrk="1" latinLnBrk="0" hangingPunct="1"/>
              <a:t>‹#›</a:t>
            </a:fld>
            <a:endParaRPr kumimoji="0" lang="en-US" sz="11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CA" dirty="0" smtClean="0"/>
              <a:t>BUSINESS SOLUTION FOR CREDIT CARD APPROVAL PREDICTION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47864" y="4365104"/>
            <a:ext cx="5114778" cy="110124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Presented To, The </a:t>
            </a:r>
            <a:r>
              <a:rPr lang="en-US" dirty="0" smtClean="0"/>
              <a:t>Technical Lead</a:t>
            </a:r>
            <a:endParaRPr lang="en-US" dirty="0"/>
          </a:p>
          <a:p>
            <a:pPr algn="l"/>
            <a:r>
              <a:rPr lang="en-US" dirty="0"/>
              <a:t>Presented By, Gibi Babu Maveliputhenpurayil, </a:t>
            </a:r>
          </a:p>
          <a:p>
            <a:pPr algn="l"/>
            <a:r>
              <a:rPr lang="en-US" dirty="0"/>
              <a:t>                           Data Scientist Team</a:t>
            </a:r>
          </a:p>
          <a:p>
            <a:pPr algn="l"/>
            <a:r>
              <a:rPr lang="en-US" dirty="0"/>
              <a:t>Presented On, </a:t>
            </a:r>
            <a:r>
              <a:rPr lang="en-US" dirty="0" smtClean="0"/>
              <a:t>2026-02-02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241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Problem identification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</a:t>
            </a:r>
            <a:r>
              <a:rPr lang="en-US" dirty="0"/>
              <a:t>a machine learning model to predict credit card approval for bank </a:t>
            </a:r>
            <a:r>
              <a:rPr lang="en-US" dirty="0" smtClean="0"/>
              <a:t>customers </a:t>
            </a:r>
          </a:p>
          <a:p>
            <a:r>
              <a:rPr lang="en-US" dirty="0" smtClean="0"/>
              <a:t>Replace </a:t>
            </a:r>
            <a:r>
              <a:rPr lang="en-US" dirty="0"/>
              <a:t>manual review process that takes several days with an instant, automated decision </a:t>
            </a:r>
            <a:r>
              <a:rPr lang="en-US" dirty="0" smtClean="0"/>
              <a:t>system </a:t>
            </a:r>
          </a:p>
          <a:p>
            <a:r>
              <a:rPr lang="en-US" dirty="0" smtClean="0"/>
              <a:t>Improve </a:t>
            </a:r>
            <a:r>
              <a:rPr lang="en-US" dirty="0"/>
              <a:t>efficiency and </a:t>
            </a:r>
            <a:r>
              <a:rPr lang="en-US" dirty="0" smtClean="0"/>
              <a:t>reduce </a:t>
            </a:r>
            <a:r>
              <a:rPr lang="en-US" dirty="0"/>
              <a:t>operational costs.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8840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908720"/>
            <a:ext cx="7128792" cy="4752528"/>
          </a:xfrm>
        </p:spPr>
      </p:pic>
    </p:spTree>
    <p:extLst>
      <p:ext uri="{BB962C8B-B14F-4D97-AF65-F5344CB8AC3E}">
        <p14:creationId xmlns:p14="http://schemas.microsoft.com/office/powerpoint/2010/main" val="33966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Dataset </a:t>
            </a:r>
            <a:r>
              <a:rPr lang="en-CA" sz="3200" dirty="0"/>
              <a:t>d</a:t>
            </a:r>
            <a:r>
              <a:rPr lang="en-CA" sz="3200" dirty="0" smtClean="0"/>
              <a:t>etails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datasets: </a:t>
            </a:r>
            <a:r>
              <a:rPr lang="en-US" dirty="0" err="1"/>
              <a:t>application_details</a:t>
            </a:r>
            <a:r>
              <a:rPr lang="en-US" dirty="0"/>
              <a:t> and </a:t>
            </a:r>
            <a:r>
              <a:rPr lang="en-US" dirty="0" err="1"/>
              <a:t>credit_details</a:t>
            </a:r>
            <a:endParaRPr lang="en-US" dirty="0"/>
          </a:p>
          <a:p>
            <a:r>
              <a:rPr lang="en-US" dirty="0"/>
              <a:t>Merged using customer ID</a:t>
            </a:r>
          </a:p>
          <a:p>
            <a:r>
              <a:rPr lang="en-US" dirty="0" smtClean="0"/>
              <a:t>First dataset:</a:t>
            </a:r>
          </a:p>
          <a:p>
            <a:pPr marL="0" indent="0">
              <a:buNone/>
            </a:pPr>
            <a:r>
              <a:rPr lang="en-US" dirty="0" smtClean="0"/>
              <a:t>        438557 records </a:t>
            </a:r>
            <a:r>
              <a:rPr lang="en-US" dirty="0"/>
              <a:t>and 27 </a:t>
            </a:r>
            <a:r>
              <a:rPr lang="en-US" dirty="0" smtClean="0"/>
              <a:t>features</a:t>
            </a:r>
            <a:endParaRPr lang="en-US" dirty="0"/>
          </a:p>
          <a:p>
            <a:r>
              <a:rPr lang="en-US" dirty="0" smtClean="0"/>
              <a:t>Final </a:t>
            </a:r>
            <a:r>
              <a:rPr lang="en-US" dirty="0"/>
              <a:t>dataset:</a:t>
            </a:r>
          </a:p>
          <a:p>
            <a:pPr marL="0" indent="0">
              <a:buNone/>
            </a:pPr>
            <a:r>
              <a:rPr lang="en-US" dirty="0" smtClean="0"/>
              <a:t>       36,457 records and 17 </a:t>
            </a:r>
            <a:r>
              <a:rPr lang="en-US" dirty="0"/>
              <a:t>features</a:t>
            </a:r>
          </a:p>
          <a:p>
            <a:r>
              <a:rPr lang="en-US" dirty="0"/>
              <a:t>Target variable:</a:t>
            </a:r>
          </a:p>
          <a:p>
            <a:pPr marL="0" indent="0">
              <a:buNone/>
            </a:pPr>
            <a:r>
              <a:rPr lang="en-US" dirty="0" smtClean="0"/>
              <a:t>       1 </a:t>
            </a:r>
            <a:r>
              <a:rPr lang="en-US" dirty="0"/>
              <a:t>→ Good </a:t>
            </a:r>
            <a:r>
              <a:rPr lang="en-US" dirty="0" smtClean="0"/>
              <a:t>customer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 smtClean="0"/>
              <a:t>32166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0 </a:t>
            </a:r>
            <a:r>
              <a:rPr lang="en-US" dirty="0"/>
              <a:t>→ Bad </a:t>
            </a:r>
            <a:r>
              <a:rPr lang="en-US" dirty="0" smtClean="0"/>
              <a:t>customer- 4291</a:t>
            </a: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056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DATA PROCESSING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Cleaned missing and inconsistent values</a:t>
            </a:r>
          </a:p>
          <a:p>
            <a:r>
              <a:rPr lang="en-US" dirty="0"/>
              <a:t>Encoded categorical variables</a:t>
            </a:r>
          </a:p>
          <a:p>
            <a:r>
              <a:rPr lang="en-US" dirty="0"/>
              <a:t>Handled outliers in employment duration</a:t>
            </a:r>
          </a:p>
          <a:p>
            <a:r>
              <a:rPr lang="en-US" dirty="0"/>
              <a:t>Performed feature reduction after EDA</a:t>
            </a:r>
          </a:p>
          <a:p>
            <a:r>
              <a:rPr lang="en-US" dirty="0"/>
              <a:t>Addressed class imbalance during model evaluation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348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424944" y="1075289"/>
            <a:ext cx="7004248" cy="5782711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800" b="1" kern="1200" cap="all" baseline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CA" dirty="0" smtClean="0"/>
              <a:t>Correlation heat map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792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MODELS USED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Logistic Regression</a:t>
            </a:r>
          </a:p>
          <a:p>
            <a:r>
              <a:rPr lang="en-CA" dirty="0"/>
              <a:t>K-Nearest Neighbors</a:t>
            </a:r>
          </a:p>
          <a:p>
            <a:r>
              <a:rPr lang="en-CA" dirty="0"/>
              <a:t>Decision Tree</a:t>
            </a:r>
          </a:p>
          <a:p>
            <a:r>
              <a:rPr lang="en-CA" dirty="0"/>
              <a:t>Random Forest</a:t>
            </a:r>
          </a:p>
          <a:p>
            <a:r>
              <a:rPr lang="en-CA" dirty="0"/>
              <a:t>Gradient Boosting (Final Model</a:t>
            </a:r>
            <a:r>
              <a:rPr lang="en-CA" dirty="0" smtClean="0"/>
              <a:t>)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Evaluation Metric: F1-score (Macro)</a:t>
            </a:r>
          </a:p>
          <a:p>
            <a:pPr marL="0" indent="0">
              <a:buNone/>
            </a:pPr>
            <a:r>
              <a:rPr lang="en-CA" dirty="0"/>
              <a:t>Validation Method: K-Fold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216555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42048" cy="1143000"/>
          </a:xfrm>
        </p:spPr>
        <p:txBody>
          <a:bodyPr/>
          <a:lstStyle/>
          <a:p>
            <a:r>
              <a:rPr lang="en-CA" dirty="0" smtClean="0"/>
              <a:t>Model comparison</a:t>
            </a:r>
            <a:endParaRPr lang="en-CA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700808"/>
            <a:ext cx="7128792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64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Hyper 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Used Random Search CV</a:t>
            </a:r>
          </a:p>
          <a:p>
            <a:r>
              <a:rPr lang="en-CA" dirty="0" smtClean="0"/>
              <a:t>Best </a:t>
            </a:r>
            <a:r>
              <a:rPr lang="en-CA" dirty="0"/>
              <a:t>GB CV F1-macro: </a:t>
            </a:r>
            <a:r>
              <a:rPr lang="en-CA" dirty="0" smtClean="0"/>
              <a:t>0.8316132963009505</a:t>
            </a:r>
          </a:p>
          <a:p>
            <a:r>
              <a:rPr lang="en-US" dirty="0"/>
              <a:t>Best F1-macro on test set: 0.479092446126925</a:t>
            </a:r>
            <a:endParaRPr lang="en-CA" dirty="0" smtClean="0"/>
          </a:p>
          <a:p>
            <a:r>
              <a:rPr lang="en-US" dirty="0"/>
              <a:t>Best RF CV F1-macro: </a:t>
            </a:r>
            <a:r>
              <a:rPr lang="en-US" dirty="0" smtClean="0"/>
              <a:t>0.7830794026439081</a:t>
            </a:r>
          </a:p>
          <a:p>
            <a:r>
              <a:rPr lang="en-US" dirty="0"/>
              <a:t>Best F1-macro on test set: 0.44028920468711047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93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BEST MODEL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Gradient Boosting Classifier</a:t>
            </a:r>
          </a:p>
          <a:p>
            <a:endParaRPr lang="en-US" dirty="0"/>
          </a:p>
          <a:p>
            <a:r>
              <a:rPr lang="en-US" dirty="0"/>
              <a:t>Best balance between majority and minority classes</a:t>
            </a:r>
          </a:p>
          <a:p>
            <a:r>
              <a:rPr lang="en-US" dirty="0"/>
              <a:t>Strong generalization on test data</a:t>
            </a:r>
          </a:p>
          <a:p>
            <a:r>
              <a:rPr lang="en-US" dirty="0"/>
              <a:t>Stable cross-validation </a:t>
            </a:r>
            <a:r>
              <a:rPr lang="en-US" dirty="0" smtClean="0"/>
              <a:t>performance</a:t>
            </a:r>
          </a:p>
          <a:p>
            <a:r>
              <a:rPr lang="en-CA" dirty="0"/>
              <a:t>Best GB </a:t>
            </a:r>
            <a:r>
              <a:rPr lang="en-CA" dirty="0" err="1"/>
              <a:t>params</a:t>
            </a:r>
            <a:r>
              <a:rPr lang="en-CA" dirty="0"/>
              <a:t>: {'subsample': 0.8, '</a:t>
            </a:r>
            <a:r>
              <a:rPr lang="en-CA" dirty="0" err="1"/>
              <a:t>n_estimators</a:t>
            </a:r>
            <a:r>
              <a:rPr lang="en-CA" dirty="0"/>
              <a:t>': 200, '</a:t>
            </a:r>
            <a:r>
              <a:rPr lang="en-CA" dirty="0" err="1"/>
              <a:t>min_samples_split</a:t>
            </a:r>
            <a:r>
              <a:rPr lang="en-CA" dirty="0"/>
              <a:t>': 5, '</a:t>
            </a:r>
            <a:r>
              <a:rPr lang="en-CA" dirty="0" err="1"/>
              <a:t>min_samples_leaf</a:t>
            </a:r>
            <a:r>
              <a:rPr lang="en-CA" dirty="0"/>
              <a:t>': 5, '</a:t>
            </a:r>
            <a:r>
              <a:rPr lang="en-CA" dirty="0" err="1"/>
              <a:t>max_features</a:t>
            </a:r>
            <a:r>
              <a:rPr lang="en-CA" dirty="0"/>
              <a:t>': None, '</a:t>
            </a:r>
            <a:r>
              <a:rPr lang="en-CA" dirty="0" err="1"/>
              <a:t>max_depth</a:t>
            </a:r>
            <a:r>
              <a:rPr lang="en-CA" dirty="0"/>
              <a:t>': 5, '</a:t>
            </a:r>
            <a:r>
              <a:rPr lang="en-CA" dirty="0" err="1"/>
              <a:t>learning_rate</a:t>
            </a:r>
            <a:r>
              <a:rPr lang="en-CA" dirty="0"/>
              <a:t>': 0.1}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7646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Feature importance</a:t>
            </a:r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8134350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908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RECOMMENDATIONS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instant credit approval decisions</a:t>
            </a:r>
          </a:p>
          <a:p>
            <a:r>
              <a:rPr lang="en-US" dirty="0"/>
              <a:t>Improves business efficiency</a:t>
            </a:r>
          </a:p>
          <a:p>
            <a:r>
              <a:rPr lang="en-US" dirty="0"/>
              <a:t>Reduces financial risk by identifying ineligible applicants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664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200" dirty="0" smtClean="0"/>
              <a:t>limitations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imbalance impacts minority-class prediction</a:t>
            </a:r>
          </a:p>
          <a:p>
            <a:r>
              <a:rPr lang="en-US" dirty="0"/>
              <a:t>Synthetic oversampling may not fully reflect real-world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69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Future improvements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/ </a:t>
            </a:r>
            <a:r>
              <a:rPr lang="en-US" dirty="0" err="1"/>
              <a:t>LightGBM</a:t>
            </a:r>
            <a:endParaRPr lang="en-US" dirty="0"/>
          </a:p>
          <a:p>
            <a:r>
              <a:rPr lang="en-US" dirty="0"/>
              <a:t>Cost-sensitive learning</a:t>
            </a:r>
          </a:p>
          <a:p>
            <a:r>
              <a:rPr lang="en-US" dirty="0"/>
              <a:t>Additional feature engineering</a:t>
            </a:r>
          </a:p>
          <a:p>
            <a:r>
              <a:rPr lang="en-US" dirty="0"/>
              <a:t>External data integration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7109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conclusion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 </a:t>
            </a:r>
            <a:r>
              <a:rPr lang="en-US" dirty="0"/>
              <a:t>identifies total income, age, and employment duration as the most influential predictors of </a:t>
            </a:r>
            <a:r>
              <a:rPr lang="en-US" dirty="0" smtClean="0"/>
              <a:t>STATUS</a:t>
            </a:r>
          </a:p>
          <a:p>
            <a:r>
              <a:rPr lang="en-US" dirty="0"/>
              <a:t>F</a:t>
            </a:r>
            <a:r>
              <a:rPr lang="en-US" dirty="0" smtClean="0"/>
              <a:t>inancial </a:t>
            </a:r>
            <a:r>
              <a:rPr lang="en-US" dirty="0"/>
              <a:t>stability and employment history play a key role in classifying customers as ‘Good’ or ‘Bad’.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4768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9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90</TotalTime>
  <Words>339</Words>
  <Application>Microsoft Office PowerPoint</Application>
  <PresentationFormat>On-screen Show (4:3)</PresentationFormat>
  <Paragraphs>65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Opulent</vt:lpstr>
      <vt:lpstr>BUSINESS SOLUTION FOR CREDIT CARD APPROVAL PREDICTION</vt:lpstr>
      <vt:lpstr>Problem identification</vt:lpstr>
      <vt:lpstr>PowerPoint Presentation</vt:lpstr>
      <vt:lpstr>Dataset details</vt:lpstr>
      <vt:lpstr>DATA PROCESSING</vt:lpstr>
      <vt:lpstr>PowerPoint Presentation</vt:lpstr>
      <vt:lpstr>MODELS USED</vt:lpstr>
      <vt:lpstr>Model comparison</vt:lpstr>
      <vt:lpstr>Hyper parameter tuning</vt:lpstr>
      <vt:lpstr>BEST MODEL</vt:lpstr>
      <vt:lpstr>Feature importance</vt:lpstr>
      <vt:lpstr>RECOMMENDATIONS</vt:lpstr>
      <vt:lpstr>limitations</vt:lpstr>
      <vt:lpstr>Future improvements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APPROVAL PREDICTION</dc:title>
  <dc:creator>gibib</dc:creator>
  <cp:lastModifiedBy>gibib</cp:lastModifiedBy>
  <cp:revision>14</cp:revision>
  <dcterms:created xsi:type="dcterms:W3CDTF">2026-02-02T13:30:42Z</dcterms:created>
  <dcterms:modified xsi:type="dcterms:W3CDTF">2026-03-08T02:13:12Z</dcterms:modified>
</cp:coreProperties>
</file>