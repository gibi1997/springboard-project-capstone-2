
<file path=[Content_Types].xml><?xml version="1.0" encoding="utf-8"?>
<Types xmlns="http://schemas.openxmlformats.org/package/2006/content-types">
  <Default Extension="jfif" ContentType="image/jpeg"/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60" r:id="rId3"/>
    <p:sldId id="261" r:id="rId4"/>
    <p:sldId id="262" r:id="rId5"/>
    <p:sldId id="263" r:id="rId6"/>
    <p:sldId id="269" r:id="rId7"/>
    <p:sldId id="264" r:id="rId8"/>
    <p:sldId id="270" r:id="rId9"/>
    <p:sldId id="265" r:id="rId10"/>
    <p:sldId id="271" r:id="rId11"/>
    <p:sldId id="266" r:id="rId12"/>
    <p:sldId id="267" r:id="rId13"/>
    <p:sldId id="268" r:id="rId14"/>
    <p:sldId id="272" r:id="rId15"/>
    <p:sldId id="273" r:id="rId16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>
        <p:scale>
          <a:sx n="75" d="100"/>
          <a:sy n="75" d="100"/>
        </p:scale>
        <p:origin x="-1435" y="-370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 flipH="1">
            <a:off x="2667000" y="0"/>
            <a:ext cx="6477000" cy="6858000"/>
          </a:xfrm>
          <a:prstGeom prst="rect">
            <a:avLst/>
          </a:prstGeom>
          <a:blipFill>
            <a:blip r:embed="rId2">
              <a:alphaModFix amt="43000"/>
            </a:blip>
            <a:tile tx="0" ty="0" sx="50000" sy="50000" flip="none" algn="tl"/>
          </a:blipFill>
          <a:ln w="0" cap="flat" cmpd="sng" algn="ctr">
            <a:noFill/>
            <a:prstDash val="solid"/>
          </a:ln>
          <a:effectLst>
            <a:fillOverlay blend="mult">
              <a:gradFill rotWithShape="1">
                <a:gsLst>
                  <a:gs pos="0">
                    <a:schemeClr val="tx2">
                      <a:tint val="62000"/>
                      <a:satMod val="420000"/>
                    </a:schemeClr>
                  </a:gs>
                  <a:gs pos="100000">
                    <a:schemeClr val="tx2">
                      <a:shade val="20000"/>
                      <a:satMod val="170000"/>
                    </a:schemeClr>
                  </a:gs>
                </a:gsLst>
                <a:path path="circle">
                  <a:fillToRect l="50000" t="100000" r="50000"/>
                </a:path>
                <a:tileRect/>
              </a:gradFill>
            </a:fillOverlay>
            <a:innerShdw blurRad="63500" dist="44450" dir="10800000">
              <a:srgbClr val="000000">
                <a:alpha val="50000"/>
              </a:srgbClr>
            </a:inn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9" name="Straight Connector 8"/>
          <p:cNvSpPr>
            <a:spLocks noChangeShapeType="1"/>
          </p:cNvSpPr>
          <p:nvPr/>
        </p:nvSpPr>
        <p:spPr bwMode="auto">
          <a:xfrm rot="16200000">
            <a:off x="-762000" y="3429000"/>
            <a:ext cx="6858000" cy="0"/>
          </a:xfrm>
          <a:prstGeom prst="line">
            <a:avLst/>
          </a:prstGeom>
          <a:noFill/>
          <a:ln w="11430" cap="flat" cmpd="sng" algn="ctr">
            <a:solidFill>
              <a:schemeClr val="bg1">
                <a:shade val="95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>
            <a:extLst/>
          </a:lstStyle>
          <a:p>
            <a:endParaRPr kumimoji="0" lang="en-US"/>
          </a:p>
        </p:txBody>
      </p:sp>
      <p:sp>
        <p:nvSpPr>
          <p:cNvPr id="12" name="Title 11"/>
          <p:cNvSpPr>
            <a:spLocks noGrp="1"/>
          </p:cNvSpPr>
          <p:nvPr>
            <p:ph type="ctrTitle"/>
          </p:nvPr>
        </p:nvSpPr>
        <p:spPr>
          <a:xfrm>
            <a:off x="3366868" y="533400"/>
            <a:ext cx="5105400" cy="2868168"/>
          </a:xfrm>
        </p:spPr>
        <p:txBody>
          <a:bodyPr lIns="45720" tIns="0" rIns="45720">
            <a:noAutofit/>
          </a:bodyPr>
          <a:lstStyle>
            <a:lvl1pPr algn="r">
              <a:defRPr sz="4200" b="1"/>
            </a:lvl1pPr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25" name="Subtitle 24"/>
          <p:cNvSpPr>
            <a:spLocks noGrp="1"/>
          </p:cNvSpPr>
          <p:nvPr>
            <p:ph type="subTitle" idx="1"/>
          </p:nvPr>
        </p:nvSpPr>
        <p:spPr>
          <a:xfrm>
            <a:off x="3354442" y="3539864"/>
            <a:ext cx="5114778" cy="1101248"/>
          </a:xfrm>
        </p:spPr>
        <p:txBody>
          <a:bodyPr lIns="45720" tIns="0" rIns="45720" bIns="0"/>
          <a:lstStyle>
            <a:lvl1pPr marL="0" indent="0" algn="r">
              <a:buNone/>
              <a:defRPr sz="2200">
                <a:solidFill>
                  <a:srgbClr val="FFFFFF"/>
                </a:solidFill>
                <a:effectLst/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  <a:extLst/>
          </a:lstStyle>
          <a:p>
            <a:r>
              <a:rPr kumimoji="0" lang="en-US" smtClean="0"/>
              <a:t>Click to edit Master subtitle style</a:t>
            </a:r>
            <a:endParaRPr kumimoji="0" lang="en-US"/>
          </a:p>
        </p:txBody>
      </p:sp>
      <p:sp>
        <p:nvSpPr>
          <p:cNvPr id="31" name="Date Placeholder 30"/>
          <p:cNvSpPr>
            <a:spLocks noGrp="1"/>
          </p:cNvSpPr>
          <p:nvPr>
            <p:ph type="dt" sz="half" idx="10"/>
          </p:nvPr>
        </p:nvSpPr>
        <p:spPr>
          <a:xfrm>
            <a:off x="5871224" y="6557946"/>
            <a:ext cx="2002464" cy="226902"/>
          </a:xfrm>
        </p:spPr>
        <p:txBody>
          <a:bodyPr/>
          <a:lstStyle>
            <a:lvl1pPr>
              <a:defRPr lang="en-US" smtClean="0">
                <a:solidFill>
                  <a:srgbClr val="FFFFFF"/>
                </a:solidFill>
              </a:defRPr>
            </a:lvl1pPr>
            <a:extLst/>
          </a:lstStyle>
          <a:p>
            <a:pPr eaLnBrk="1" latinLnBrk="0" hangingPunct="1"/>
            <a:fld id="{F8CFA630-13BB-46C4-BD44-B2C5F9B66074}" type="datetimeFigureOut">
              <a:rPr lang="en-US" smtClean="0"/>
              <a:pPr eaLnBrk="1" latinLnBrk="0" hangingPunct="1"/>
              <a:t>2/2/2026</a:t>
            </a:fld>
            <a:endParaRPr lang="en-US" dirty="0">
              <a:solidFill>
                <a:srgbClr val="FFFFFF"/>
              </a:solidFill>
            </a:endParaRPr>
          </a:p>
        </p:txBody>
      </p:sp>
      <p:sp>
        <p:nvSpPr>
          <p:cNvPr id="18" name="Footer Placeholder 17"/>
          <p:cNvSpPr>
            <a:spLocks noGrp="1"/>
          </p:cNvSpPr>
          <p:nvPr>
            <p:ph type="ftr" sz="quarter" idx="11"/>
          </p:nvPr>
        </p:nvSpPr>
        <p:spPr>
          <a:xfrm>
            <a:off x="2819400" y="6557946"/>
            <a:ext cx="2927722" cy="228600"/>
          </a:xfrm>
        </p:spPr>
        <p:txBody>
          <a:bodyPr/>
          <a:lstStyle>
            <a:lvl1pPr>
              <a:defRPr lang="en-US" dirty="0">
                <a:solidFill>
                  <a:srgbClr val="FFFFFF"/>
                </a:solidFill>
              </a:defRPr>
            </a:lvl1pPr>
            <a:extLst/>
          </a:lstStyle>
          <a:p>
            <a:endParaRPr kumimoji="0" lang="en-US" dirty="0">
              <a:solidFill>
                <a:srgbClr val="FFFFFF"/>
              </a:solidFill>
            </a:endParaRPr>
          </a:p>
        </p:txBody>
      </p:sp>
      <p:sp>
        <p:nvSpPr>
          <p:cNvPr id="29" name="Slide Number Placeholder 28"/>
          <p:cNvSpPr>
            <a:spLocks noGrp="1"/>
          </p:cNvSpPr>
          <p:nvPr>
            <p:ph type="sldNum" sz="quarter" idx="12"/>
          </p:nvPr>
        </p:nvSpPr>
        <p:spPr>
          <a:xfrm>
            <a:off x="7880884" y="6556248"/>
            <a:ext cx="588336" cy="228600"/>
          </a:xfrm>
        </p:spPr>
        <p:txBody>
          <a:bodyPr/>
          <a:lstStyle>
            <a:lvl1pPr>
              <a:defRPr lang="en-US" smtClean="0">
                <a:solidFill>
                  <a:srgbClr val="FFFFFF"/>
                </a:solidFill>
              </a:defRPr>
            </a:lvl1pPr>
            <a:extLst/>
          </a:lstStyle>
          <a:p>
            <a:fld id="{BC5217A8-0E06-4059-AC45-433E2E67A85D}" type="slidenum">
              <a:rPr kumimoji="0" lang="en-US" smtClean="0"/>
              <a:pPr eaLnBrk="1" latinLnBrk="0" hangingPunct="1"/>
              <a:t>‹#›</a:t>
            </a:fld>
            <a:endParaRPr kumimoji="0" lang="en-US" dirty="0">
              <a:solidFill>
                <a:srgbClr val="FFFFFF"/>
              </a:solidFill>
            </a:endParaRP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pPr eaLnBrk="1" latinLnBrk="0" hangingPunct="1"/>
            <a:fld id="{F8CFA630-13BB-46C4-BD44-B2C5F9B66074}" type="datetimeFigureOut">
              <a:rPr lang="en-US" smtClean="0"/>
              <a:pPr eaLnBrk="1" latinLnBrk="0" hangingPunct="1"/>
              <a:t>2/2/2026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BC5217A8-0E06-4059-AC45-433E2E67A85D}" type="slidenum">
              <a:rPr kumimoji="0" lang="en-US" smtClean="0"/>
              <a:pPr eaLnBrk="1" latinLnBrk="0" hangingPunct="1"/>
              <a:t>‹#›</a:t>
            </a:fld>
            <a:endParaRPr kumimoji="0"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66800" y="2821837"/>
            <a:ext cx="6255488" cy="1362075"/>
          </a:xfrm>
        </p:spPr>
        <p:txBody>
          <a:bodyPr tIns="0" anchor="t"/>
          <a:lstStyle>
            <a:lvl1pPr algn="r">
              <a:buNone/>
              <a:defRPr sz="4200" b="1" cap="all"/>
            </a:lvl1pPr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6800" y="1905000"/>
            <a:ext cx="6255488" cy="743507"/>
          </a:xfrm>
        </p:spPr>
        <p:txBody>
          <a:bodyPr anchor="b"/>
          <a:lstStyle>
            <a:lvl1pPr marL="0" indent="0" algn="r">
              <a:buNone/>
              <a:defRPr sz="2000">
                <a:solidFill>
                  <a:schemeClr val="tx1"/>
                </a:solidFill>
                <a:effectLst/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extLst/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724238" y="6556810"/>
            <a:ext cx="2002464" cy="226902"/>
          </a:xfrm>
        </p:spPr>
        <p:txBody>
          <a:bodyPr bIns="0" anchor="b"/>
          <a:lstStyle>
            <a:lvl1pPr>
              <a:defRPr>
                <a:solidFill>
                  <a:schemeClr val="tx2"/>
                </a:solidFill>
              </a:defRPr>
            </a:lvl1pPr>
            <a:extLst/>
          </a:lstStyle>
          <a:p>
            <a:pPr eaLnBrk="1" latinLnBrk="0" hangingPunct="1"/>
            <a:fld id="{F8CFA630-13BB-46C4-BD44-B2C5F9B66074}" type="datetimeFigureOut">
              <a:rPr lang="en-US" smtClean="0"/>
              <a:pPr eaLnBrk="1" latinLnBrk="0" hangingPunct="1"/>
              <a:t>2/2/2026</a:t>
            </a:fld>
            <a:endParaRPr lang="en-US">
              <a:solidFill>
                <a:schemeClr val="tx2"/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35358" y="6556810"/>
            <a:ext cx="2895600" cy="228600"/>
          </a:xfrm>
        </p:spPr>
        <p:txBody>
          <a:bodyPr bIns="0" anchor="b"/>
          <a:lstStyle>
            <a:lvl1pPr>
              <a:defRPr>
                <a:solidFill>
                  <a:schemeClr val="tx2"/>
                </a:solidFill>
              </a:defRPr>
            </a:lvl1pPr>
            <a:extLst/>
          </a:lstStyle>
          <a:p>
            <a:endParaRPr kumimoji="0" lang="en-US" dirty="0">
              <a:solidFill>
                <a:schemeClr val="tx2"/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733952" y="6555112"/>
            <a:ext cx="588336" cy="228600"/>
          </a:xfrm>
        </p:spPr>
        <p:txBody>
          <a:bodyPr/>
          <a:lstStyle>
            <a:extLst/>
          </a:lstStyle>
          <a:p>
            <a:fld id="{BC5217A8-0E06-4059-AC45-433E2E67A85D}" type="slidenum">
              <a:rPr kumimoji="0" lang="en-US" smtClean="0"/>
              <a:pPr eaLnBrk="1" latinLnBrk="0" hangingPunct="1"/>
              <a:t>‹#›</a:t>
            </a:fld>
            <a:endParaRPr kumimoji="0"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20040"/>
            <a:ext cx="7242048" cy="1143000"/>
          </a:xfrm>
        </p:spPr>
        <p:txBody>
          <a:bodyPr/>
          <a:lstStyle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3520440" cy="4525963"/>
          </a:xfrm>
        </p:spPr>
        <p:txBody>
          <a:bodyPr anchor="t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178808" y="1600200"/>
            <a:ext cx="3520440" cy="4525963"/>
          </a:xfrm>
        </p:spPr>
        <p:txBody>
          <a:bodyPr anchor="t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pPr eaLnBrk="1" latinLnBrk="0" hangingPunct="1"/>
            <a:fld id="{F8CFA630-13BB-46C4-BD44-B2C5F9B66074}" type="datetimeFigureOut">
              <a:rPr lang="en-US" smtClean="0"/>
              <a:pPr eaLnBrk="1" latinLnBrk="0" hangingPunct="1"/>
              <a:t>2/2/2026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BC5217A8-0E06-4059-AC45-433E2E67A85D}" type="slidenum">
              <a:rPr kumimoji="0" lang="en-US" smtClean="0"/>
              <a:pPr eaLnBrk="1" latinLnBrk="0" hangingPunct="1"/>
              <a:t>‹#›</a:t>
            </a:fld>
            <a:endParaRPr kumimoji="0"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20040"/>
            <a:ext cx="7242048" cy="1143000"/>
          </a:xfrm>
        </p:spPr>
        <p:txBody>
          <a:bodyPr anchor="b"/>
          <a:lstStyle>
            <a:lvl1pPr>
              <a:defRPr/>
            </a:lvl1pPr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5867400"/>
            <a:ext cx="3520440" cy="457200"/>
          </a:xfrm>
          <a:noFill/>
          <a:ln w="12700" cap="flat" cmpd="sng" algn="ctr">
            <a:solidFill>
              <a:schemeClr val="tx2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>
            <a:lvl1pPr marL="0" indent="0" algn="ctr">
              <a:buNone/>
              <a:defRPr sz="1800" b="1">
                <a:solidFill>
                  <a:schemeClr val="tx2"/>
                </a:solidFill>
                <a:effectLst/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  <a:extLst/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3"/>
          </p:nvPr>
        </p:nvSpPr>
        <p:spPr>
          <a:xfrm>
            <a:off x="4178808" y="5867400"/>
            <a:ext cx="3520440" cy="457200"/>
          </a:xfrm>
          <a:noFill/>
          <a:ln w="12700" cap="flat" cmpd="sng" algn="ctr">
            <a:solidFill>
              <a:schemeClr val="tx2"/>
            </a:solidFill>
            <a:prstDash val="soli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anchor="ctr"/>
          <a:lstStyle>
            <a:lvl1pPr marL="0" indent="0" algn="ctr">
              <a:buNone/>
              <a:defRPr sz="1800" b="1">
                <a:solidFill>
                  <a:schemeClr val="tx2"/>
                </a:solidFill>
                <a:effectLst/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  <a:extLst/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2"/>
          </p:nvPr>
        </p:nvSpPr>
        <p:spPr>
          <a:xfrm>
            <a:off x="457200" y="1711840"/>
            <a:ext cx="3520440" cy="41148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178808" y="1711840"/>
            <a:ext cx="3520440" cy="41148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pPr eaLnBrk="1" latinLnBrk="0" hangingPunct="1"/>
            <a:fld id="{F8CFA630-13BB-46C4-BD44-B2C5F9B66074}" type="datetimeFigureOut">
              <a:rPr lang="en-US" smtClean="0"/>
              <a:pPr eaLnBrk="1" latinLnBrk="0" hangingPunct="1"/>
              <a:t>2/2/2026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kumimoji="0"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BC5217A8-0E06-4059-AC45-433E2E67A85D}" type="slidenum">
              <a:rPr kumimoji="0" lang="en-US" smtClean="0"/>
              <a:pPr eaLnBrk="1" latinLnBrk="0" hangingPunct="1"/>
              <a:t>‹#›</a:t>
            </a:fld>
            <a:endParaRPr kumimoji="0"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20040"/>
            <a:ext cx="7242048" cy="1143000"/>
          </a:xfrm>
        </p:spPr>
        <p:txBody>
          <a:bodyPr/>
          <a:lstStyle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pPr eaLnBrk="1" latinLnBrk="0" hangingPunct="1"/>
            <a:fld id="{F8CFA630-13BB-46C4-BD44-B2C5F9B66074}" type="datetimeFigureOut">
              <a:rPr lang="en-US" smtClean="0"/>
              <a:pPr eaLnBrk="1" latinLnBrk="0" hangingPunct="1"/>
              <a:t>2/2/2026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kumimoji="0"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BC5217A8-0E06-4059-AC45-433E2E67A85D}" type="slidenum">
              <a:rPr kumimoji="0" lang="en-US" smtClean="0"/>
              <a:pPr eaLnBrk="1" latinLnBrk="0" hangingPunct="1"/>
              <a:t>‹#›</a:t>
            </a:fld>
            <a:endParaRPr kumimoji="0"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extLst/>
          </a:lstStyle>
          <a:p>
            <a:pPr eaLnBrk="1" latinLnBrk="0" hangingPunct="1"/>
            <a:fld id="{F8CFA630-13BB-46C4-BD44-B2C5F9B66074}" type="datetimeFigureOut">
              <a:rPr lang="en-US" smtClean="0"/>
              <a:pPr eaLnBrk="1" latinLnBrk="0" hangingPunct="1"/>
              <a:t>2/2/2026</a:t>
            </a:fld>
            <a:endParaRPr lang="en-US" dirty="0">
              <a:solidFill>
                <a:schemeClr val="tx2"/>
              </a:solidFill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extLst/>
          </a:lstStyle>
          <a:p>
            <a:endParaRPr kumimoji="0" lang="en-US" dirty="0">
              <a:solidFill>
                <a:schemeClr val="tx2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BC5217A8-0E06-4059-AC45-433E2E67A85D}" type="slidenum">
              <a:rPr kumimoji="0" lang="en-US" smtClean="0"/>
              <a:pPr eaLnBrk="1" latinLnBrk="0" hangingPunct="1"/>
              <a:t>‹#›</a:t>
            </a:fld>
            <a:endParaRPr kumimoji="0"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5897880" cy="1173480"/>
          </a:xfrm>
        </p:spPr>
        <p:txBody>
          <a:bodyPr wrap="square" anchor="b"/>
          <a:lstStyle>
            <a:lvl1pPr algn="l">
              <a:buNone/>
              <a:defRPr lang="en-US" sz="2400" baseline="0" smtClean="0"/>
            </a:lvl1pPr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>
          <a:xfrm>
            <a:off x="457200" y="1497416"/>
            <a:ext cx="5897880" cy="602512"/>
          </a:xfrm>
        </p:spPr>
        <p:txBody>
          <a:bodyPr rot="0" spcFirstLastPara="0" vertOverflow="overflow" horzOverflow="overflow" vert="horz" wrap="square" lIns="45720" tIns="0" rIns="0" bIns="0" numCol="1" spcCol="0" rtlCol="0" fromWordArt="0" anchor="t" anchorCtr="0" forceAA="0" compatLnSpc="1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  <a:extLst/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457200" y="2133600"/>
            <a:ext cx="7239000" cy="437175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pPr eaLnBrk="1" latinLnBrk="0" hangingPunct="1"/>
            <a:fld id="{F8CFA630-13BB-46C4-BD44-B2C5F9B66074}" type="datetimeFigureOut">
              <a:rPr lang="en-US" smtClean="0"/>
              <a:pPr eaLnBrk="1" latinLnBrk="0" hangingPunct="1"/>
              <a:t>2/2/2026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BC5217A8-0E06-4059-AC45-433E2E67A85D}" type="slidenum">
              <a:rPr kumimoji="0" lang="en-US" smtClean="0"/>
              <a:pPr eaLnBrk="1" latinLnBrk="0" hangingPunct="1"/>
              <a:t>‹#›</a:t>
            </a:fld>
            <a:endParaRPr kumimoji="0"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 rot="21240000">
            <a:off x="597968" y="1004668"/>
            <a:ext cx="4319527" cy="4312573"/>
          </a:xfrm>
          <a:prstGeom prst="rect">
            <a:avLst/>
          </a:prstGeom>
          <a:solidFill>
            <a:srgbClr val="FAFAFA"/>
          </a:solidFill>
          <a:ln w="1270" cap="rnd" cmpd="sng" algn="ctr">
            <a:solidFill>
              <a:srgbClr val="EAEAEA"/>
            </a:solidFill>
            <a:prstDash val="solid"/>
          </a:ln>
          <a:effectLst>
            <a:outerShdw blurRad="25000" dist="12700" dir="5400000" algn="t" rotWithShape="0">
              <a:srgbClr val="000000">
                <a:alpha val="40000"/>
              </a:srgbClr>
            </a:outerShdw>
          </a:effectLst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9" name="Rectangle 8"/>
          <p:cNvSpPr/>
          <p:nvPr/>
        </p:nvSpPr>
        <p:spPr>
          <a:xfrm rot="21420000">
            <a:off x="596706" y="998816"/>
            <a:ext cx="4319527" cy="4312573"/>
          </a:xfrm>
          <a:prstGeom prst="rect">
            <a:avLst/>
          </a:prstGeom>
          <a:solidFill>
            <a:srgbClr val="FAFAFA"/>
          </a:solidFill>
          <a:ln w="1270" cap="rnd" cmpd="sng" algn="ctr">
            <a:solidFill>
              <a:srgbClr val="EAEAEA"/>
            </a:solidFill>
            <a:prstDash val="solid"/>
          </a:ln>
          <a:effectLst>
            <a:outerShdw blurRad="28000" dist="12700" dir="54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89098" y="1143000"/>
            <a:ext cx="3429000" cy="2057400"/>
          </a:xfrm>
        </p:spPr>
        <p:txBody>
          <a:bodyPr vert="horz" anchor="b"/>
          <a:lstStyle>
            <a:lvl1pPr algn="l">
              <a:buNone/>
              <a:defRPr sz="3000" b="1" baseline="0">
                <a:ln w="500">
                  <a:solidFill>
                    <a:schemeClr val="tx2">
                      <a:shade val="10000"/>
                      <a:satMod val="135000"/>
                    </a:schemeClr>
                  </a:solidFill>
                </a:ln>
                <a:gradFill>
                  <a:gsLst>
                    <a:gs pos="0">
                      <a:schemeClr val="accent4">
                        <a:tint val="13000"/>
                      </a:schemeClr>
                    </a:gs>
                    <a:gs pos="10000">
                      <a:schemeClr val="accent4">
                        <a:tint val="20000"/>
                      </a:schemeClr>
                    </a:gs>
                    <a:gs pos="49000">
                      <a:schemeClr val="accent4">
                        <a:tint val="70000"/>
                      </a:schemeClr>
                    </a:gs>
                    <a:gs pos="50000">
                      <a:schemeClr val="accent4">
                        <a:tint val="97000"/>
                      </a:schemeClr>
                    </a:gs>
                    <a:gs pos="100000">
                      <a:schemeClr val="accent4">
                        <a:tint val="20000"/>
                      </a:schemeClr>
                    </a:gs>
                  </a:gsLst>
                  <a:lin ang="5400000" scaled="1"/>
                </a:gradFill>
                <a:effectLst/>
              </a:defRPr>
            </a:lvl1pPr>
            <a:extLst/>
          </a:lstStyle>
          <a:p>
            <a:r>
              <a:rPr kumimoji="0" lang="en-US" smtClean="0"/>
              <a:t>Click to edit Master title style</a:t>
            </a:r>
            <a:endParaRPr kumimoji="0"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89098" y="3283634"/>
            <a:ext cx="3429000" cy="1920240"/>
          </a:xfrm>
        </p:spPr>
        <p:txBody>
          <a:bodyPr rot="0" spcFirstLastPara="0" vertOverflow="overflow" horzOverflow="overflow" vert="horz" wrap="square" lIns="82296" tIns="0" rIns="0" bIns="0" numCol="1" spcCol="0" rtlCol="0" fromWordArt="0" anchor="t" anchorCtr="0" forceAA="0" compatLnSpc="1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400" baseline="0">
                <a:solidFill>
                  <a:schemeClr val="tx1"/>
                </a:solidFill>
              </a:defRPr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  <a:extLst/>
          </a:lstStyle>
          <a:p>
            <a:pPr marL="0" marR="0" lvl="0" indent="0" algn="l" defTabSz="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73000"/>
              <a:buFontTx/>
              <a:buNone/>
              <a:tabLst/>
              <a:defRPr/>
            </a:pPr>
            <a:r>
              <a:rPr kumimoji="0"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pPr eaLnBrk="1" latinLnBrk="0" hangingPunct="1"/>
            <a:fld id="{F8CFA630-13BB-46C4-BD44-B2C5F9B66074}" type="datetimeFigureOut">
              <a:rPr lang="en-US" smtClean="0"/>
              <a:pPr eaLnBrk="1" latinLnBrk="0" hangingPunct="1"/>
              <a:t>2/2/2026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BC5217A8-0E06-4059-AC45-433E2E67A85D}" type="slidenum">
              <a:rPr kumimoji="0" lang="en-US" smtClean="0"/>
              <a:pPr eaLnBrk="1" latinLnBrk="0" hangingPunct="1"/>
              <a:t>‹#›</a:t>
            </a:fld>
            <a:endParaRPr kumimoji="0" lang="en-US"/>
          </a:p>
        </p:txBody>
      </p:sp>
      <p:sp>
        <p:nvSpPr>
          <p:cNvPr id="10" name="Picture Placeholder 9"/>
          <p:cNvSpPr>
            <a:spLocks noGrp="1"/>
          </p:cNvSpPr>
          <p:nvPr>
            <p:ph type="pic" idx="1"/>
          </p:nvPr>
        </p:nvSpPr>
        <p:spPr>
          <a:xfrm>
            <a:off x="663682" y="1041002"/>
            <a:ext cx="4206240" cy="4206240"/>
          </a:xfrm>
          <a:solidFill>
            <a:schemeClr val="bg2">
              <a:shade val="50000"/>
            </a:schemeClr>
          </a:solidFill>
          <a:ln w="107950">
            <a:solidFill>
              <a:srgbClr val="FFFFFF"/>
            </a:solidFill>
            <a:miter lim="800000"/>
          </a:ln>
          <a:effectLst>
            <a:outerShdw blurRad="44450" dist="3810" dir="5400000" algn="tl" rotWithShape="0">
              <a:srgbClr val="000000">
                <a:alpha val="60000"/>
              </a:srgbClr>
            </a:outerShdw>
          </a:effectLst>
          <a:scene3d>
            <a:camera prst="orthographicFront"/>
            <a:lightRig rig="threePt" dir="t"/>
          </a:scene3d>
          <a:sp3d contourW="3810">
            <a:contourClr>
              <a:srgbClr val="969696"/>
            </a:contourClr>
          </a:sp3d>
        </p:spPr>
        <p:txBody>
          <a:bodyPr/>
          <a:lstStyle>
            <a:lvl1pPr marL="0" indent="0">
              <a:buNone/>
              <a:defRPr sz="3200"/>
            </a:lvl1pPr>
            <a:extLst/>
          </a:lstStyle>
          <a:p>
            <a:r>
              <a:rPr kumimoji="0" lang="en-US" smtClean="0"/>
              <a:t>Click icon to add picture</a:t>
            </a:r>
            <a:endParaRPr kumimoji="0" lang="en-US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pPr eaLnBrk="1" latinLnBrk="0" hangingPunct="1"/>
            <a:fld id="{F8CFA630-13BB-46C4-BD44-B2C5F9B66074}" type="datetimeFigureOut">
              <a:rPr lang="en-US" smtClean="0"/>
              <a:pPr eaLnBrk="1" latinLnBrk="0" hangingPunct="1"/>
              <a:t>2/2/2026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BC5217A8-0E06-4059-AC45-433E2E67A85D}" type="slidenum">
              <a:rPr kumimoji="0" lang="en-US" smtClean="0"/>
              <a:pPr eaLnBrk="1" latinLnBrk="0" hangingPunct="1"/>
              <a:t>‹#›</a:t>
            </a:fld>
            <a:endParaRPr kumimoji="0"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53200" y="274955"/>
            <a:ext cx="1524000" cy="5851525"/>
          </a:xfrm>
        </p:spPr>
        <p:txBody>
          <a:bodyPr vert="eaVert" anchor="t"/>
          <a:lstStyle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42"/>
            <a:ext cx="6019800" cy="5851525"/>
          </a:xfrm>
        </p:spPr>
        <p:txBody>
          <a:bodyPr vert="eaVert"/>
          <a:lstStyle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242816" y="6557946"/>
            <a:ext cx="2002464" cy="226902"/>
          </a:xfrm>
        </p:spPr>
        <p:txBody>
          <a:bodyPr/>
          <a:lstStyle>
            <a:extLst/>
          </a:lstStyle>
          <a:p>
            <a:pPr eaLnBrk="1" latinLnBrk="0" hangingPunct="1"/>
            <a:fld id="{F8CFA630-13BB-46C4-BD44-B2C5F9B66074}" type="datetimeFigureOut">
              <a:rPr lang="en-US" smtClean="0"/>
              <a:pPr eaLnBrk="1" latinLnBrk="0" hangingPunct="1"/>
              <a:t>2/2/2026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57200" y="6556248"/>
            <a:ext cx="3657600" cy="228600"/>
          </a:xfrm>
        </p:spPr>
        <p:txBody>
          <a:bodyPr/>
          <a:lstStyle>
            <a:extLst/>
          </a:lstStyle>
          <a:p>
            <a:endParaRPr kumimoji="0"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254496" y="6553200"/>
            <a:ext cx="588336" cy="2286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extLst/>
          </a:lstStyle>
          <a:p>
            <a:fld id="{BC5217A8-0E06-4059-AC45-433E2E67A85D}" type="slidenum">
              <a:rPr kumimoji="0" lang="en-US" smtClean="0"/>
              <a:pPr eaLnBrk="1" latinLnBrk="0" hangingPunct="1"/>
              <a:t>‹#›</a:t>
            </a:fld>
            <a:endParaRPr kumimoji="0" lang="en-US" dirty="0">
              <a:solidFill>
                <a:schemeClr val="tx2"/>
              </a:solidFill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 flipH="1">
            <a:off x="8153400" y="0"/>
            <a:ext cx="990600" cy="6858000"/>
          </a:xfrm>
          <a:prstGeom prst="rect">
            <a:avLst/>
          </a:prstGeom>
          <a:blipFill>
            <a:blip r:embed="rId13">
              <a:alphaModFix amt="43000"/>
            </a:blip>
            <a:tile tx="0" ty="0" sx="50000" sy="50000" flip="none" algn="tl"/>
          </a:blipFill>
          <a:ln w="0" cap="flat" cmpd="sng" algn="ctr">
            <a:noFill/>
            <a:prstDash val="solid"/>
          </a:ln>
          <a:effectLst>
            <a:fillOverlay blend="mult">
              <a:gradFill rotWithShape="1">
                <a:gsLst>
                  <a:gs pos="0">
                    <a:schemeClr val="tx2">
                      <a:tint val="62000"/>
                      <a:satMod val="420000"/>
                    </a:schemeClr>
                  </a:gs>
                  <a:gs pos="100000">
                    <a:schemeClr val="tx2">
                      <a:shade val="20000"/>
                      <a:satMod val="170000"/>
                    </a:schemeClr>
                  </a:gs>
                </a:gsLst>
                <a:path path="circle">
                  <a:fillToRect l="50000" t="110000" r="50000" b="-10000"/>
                </a:path>
                <a:tileRect/>
              </a:gradFill>
            </a:fillOverlay>
            <a:innerShdw blurRad="63500" dist="44450" dir="10800000">
              <a:srgbClr val="000000">
                <a:alpha val="45000"/>
              </a:srgbClr>
            </a:inn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3" name="Title Placeholder 2"/>
          <p:cNvSpPr>
            <a:spLocks noGrp="1"/>
          </p:cNvSpPr>
          <p:nvPr>
            <p:ph type="title"/>
          </p:nvPr>
        </p:nvSpPr>
        <p:spPr>
          <a:xfrm>
            <a:off x="457200" y="320040"/>
            <a:ext cx="7239000" cy="1143000"/>
          </a:xfrm>
          <a:prstGeom prst="rect">
            <a:avLst/>
          </a:prstGeom>
        </p:spPr>
        <p:txBody>
          <a:bodyPr vert="horz" lIns="45720" tIns="0" rIns="45720" bIns="0" anchor="b" anchorCtr="0">
            <a:normAutofit/>
          </a:bodyPr>
          <a:lstStyle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1" name="Text Placeholder 30"/>
          <p:cNvSpPr>
            <a:spLocks noGrp="1"/>
          </p:cNvSpPr>
          <p:nvPr>
            <p:ph type="body" idx="1"/>
          </p:nvPr>
        </p:nvSpPr>
        <p:spPr>
          <a:xfrm>
            <a:off x="457200" y="1609416"/>
            <a:ext cx="7239000" cy="4846320"/>
          </a:xfrm>
          <a:prstGeom prst="rect">
            <a:avLst/>
          </a:prstGeom>
        </p:spPr>
        <p:txBody>
          <a:bodyPr vert="horz">
            <a:normAutofit/>
          </a:bodyPr>
          <a:lstStyle>
            <a:extLst/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  <a:p>
            <a:pPr lvl="1" eaLnBrk="1" latinLnBrk="0" hangingPunct="1"/>
            <a:r>
              <a:rPr kumimoji="0" lang="en-US" smtClean="0"/>
              <a:t>Second level</a:t>
            </a:r>
          </a:p>
          <a:p>
            <a:pPr lvl="2" eaLnBrk="1" latinLnBrk="0" hangingPunct="1"/>
            <a:r>
              <a:rPr kumimoji="0" lang="en-US" smtClean="0"/>
              <a:t>Third level</a:t>
            </a:r>
          </a:p>
          <a:p>
            <a:pPr lvl="3" eaLnBrk="1" latinLnBrk="0" hangingPunct="1"/>
            <a:r>
              <a:rPr kumimoji="0" lang="en-US" smtClean="0"/>
              <a:t>Fourth level</a:t>
            </a:r>
          </a:p>
          <a:p>
            <a:pPr lvl="4" eaLnBrk="1" latinLnBrk="0" hangingPunct="1"/>
            <a:r>
              <a:rPr kumimoji="0" lang="en-US" smtClean="0"/>
              <a:t>Fifth level</a:t>
            </a:r>
            <a:endParaRPr kumimoji="0" lang="en-US"/>
          </a:p>
        </p:txBody>
      </p:sp>
      <p:sp>
        <p:nvSpPr>
          <p:cNvPr id="27" name="Date Placeholder 26"/>
          <p:cNvSpPr>
            <a:spLocks noGrp="1"/>
          </p:cNvSpPr>
          <p:nvPr>
            <p:ph type="dt" sz="half" idx="2"/>
          </p:nvPr>
        </p:nvSpPr>
        <p:spPr>
          <a:xfrm>
            <a:off x="4245936" y="6557946"/>
            <a:ext cx="2002464" cy="226902"/>
          </a:xfrm>
          <a:prstGeom prst="rect">
            <a:avLst/>
          </a:prstGeom>
        </p:spPr>
        <p:txBody>
          <a:bodyPr vert="horz" tIns="0" bIns="0" anchor="b"/>
          <a:lstStyle>
            <a:lvl1pPr algn="l" eaLnBrk="1" latinLnBrk="0" hangingPunct="1">
              <a:defRPr kumimoji="0" sz="1000">
                <a:solidFill>
                  <a:schemeClr val="tx2"/>
                </a:solidFill>
              </a:defRPr>
            </a:lvl1pPr>
            <a:extLst/>
          </a:lstStyle>
          <a:p>
            <a:pPr eaLnBrk="1" latinLnBrk="0" hangingPunct="1"/>
            <a:fld id="{F8CFA630-13BB-46C4-BD44-B2C5F9B66074}" type="datetimeFigureOut">
              <a:rPr lang="en-US" smtClean="0"/>
              <a:pPr eaLnBrk="1" latinLnBrk="0" hangingPunct="1"/>
              <a:t>2/2/2026</a:t>
            </a:fld>
            <a:endParaRPr lang="en-US" sz="1000" dirty="0">
              <a:solidFill>
                <a:schemeClr val="tx2"/>
              </a:solidFill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457200" y="6557946"/>
            <a:ext cx="3657600" cy="228600"/>
          </a:xfrm>
          <a:prstGeom prst="rect">
            <a:avLst/>
          </a:prstGeom>
        </p:spPr>
        <p:txBody>
          <a:bodyPr vert="horz" tIns="0" bIns="0" anchor="b"/>
          <a:lstStyle>
            <a:lvl1pPr algn="r" eaLnBrk="1" latinLnBrk="0" hangingPunct="1">
              <a:defRPr kumimoji="0" sz="1000">
                <a:solidFill>
                  <a:schemeClr val="tx2"/>
                </a:solidFill>
              </a:defRPr>
            </a:lvl1pPr>
            <a:extLst/>
          </a:lstStyle>
          <a:p>
            <a:pPr algn="r" eaLnBrk="1" latinLnBrk="0" hangingPunct="1"/>
            <a:endParaRPr kumimoji="0" lang="en-US" sz="1000" dirty="0">
              <a:solidFill>
                <a:schemeClr val="tx2"/>
              </a:solidFill>
            </a:endParaRPr>
          </a:p>
        </p:txBody>
      </p:sp>
      <p:sp>
        <p:nvSpPr>
          <p:cNvPr id="16" name="Slide Number Placeholder 15"/>
          <p:cNvSpPr>
            <a:spLocks noGrp="1"/>
          </p:cNvSpPr>
          <p:nvPr>
            <p:ph type="sldNum" sz="quarter" idx="4"/>
          </p:nvPr>
        </p:nvSpPr>
        <p:spPr>
          <a:xfrm>
            <a:off x="6251448" y="6556248"/>
            <a:ext cx="588336" cy="228600"/>
          </a:xfrm>
          <a:prstGeom prst="rect">
            <a:avLst/>
          </a:prstGeom>
        </p:spPr>
        <p:txBody>
          <a:bodyPr vert="horz" lIns="0" tIns="0" rIns="0" bIns="0" anchor="b"/>
          <a:lstStyle>
            <a:lvl1pPr algn="r" eaLnBrk="1" latinLnBrk="0" hangingPunct="1">
              <a:defRPr kumimoji="0" sz="1100">
                <a:solidFill>
                  <a:schemeClr val="tx2"/>
                </a:solidFill>
              </a:defRPr>
            </a:lvl1pPr>
            <a:extLst/>
          </a:lstStyle>
          <a:p>
            <a:pPr algn="r" eaLnBrk="1" latinLnBrk="0" hangingPunct="1"/>
            <a:fld id="{BC5217A8-0E06-4059-AC45-433E2E67A85D}" type="slidenum">
              <a:rPr kumimoji="0" lang="en-US" smtClean="0"/>
              <a:pPr algn="r" eaLnBrk="1" latinLnBrk="0" hangingPunct="1"/>
              <a:t>‹#›</a:t>
            </a:fld>
            <a:endParaRPr kumimoji="0" lang="en-US" sz="1100" dirty="0">
              <a:solidFill>
                <a:schemeClr val="tx2"/>
              </a:solidFill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rtl="0" eaLnBrk="1" latinLnBrk="0" hangingPunct="1">
        <a:spcBef>
          <a:spcPct val="0"/>
        </a:spcBef>
        <a:buNone/>
        <a:defRPr kumimoji="0" sz="3800" b="1" kern="1200" cap="all" baseline="0">
          <a:ln w="500">
            <a:solidFill>
              <a:schemeClr val="tx2">
                <a:shade val="20000"/>
                <a:satMod val="120000"/>
              </a:schemeClr>
            </a:solidFill>
          </a:ln>
          <a:gradFill>
            <a:gsLst>
              <a:gs pos="0">
                <a:schemeClr val="accent4">
                  <a:tint val="13000"/>
                </a:schemeClr>
              </a:gs>
              <a:gs pos="10000">
                <a:schemeClr val="accent4">
                  <a:tint val="20000"/>
                </a:schemeClr>
              </a:gs>
              <a:gs pos="49000">
                <a:schemeClr val="accent4">
                  <a:tint val="70000"/>
                </a:schemeClr>
              </a:gs>
              <a:gs pos="50000">
                <a:schemeClr val="accent4">
                  <a:tint val="97000"/>
                </a:schemeClr>
              </a:gs>
              <a:gs pos="100000">
                <a:schemeClr val="accent4">
                  <a:tint val="20000"/>
                </a:schemeClr>
              </a:gs>
            </a:gsLst>
            <a:lin ang="5400000" scaled="1"/>
          </a:gradFill>
          <a:effectLst/>
          <a:latin typeface="+mj-lt"/>
          <a:ea typeface="+mj-ea"/>
          <a:cs typeface="+mj-cs"/>
        </a:defRPr>
      </a:lvl1pPr>
      <a:extLst/>
    </p:titleStyle>
    <p:bodyStyle>
      <a:lvl1pPr marL="274320" indent="-274320" algn="l" rtl="0" eaLnBrk="1" latinLnBrk="0" hangingPunct="1">
        <a:spcBef>
          <a:spcPts val="600"/>
        </a:spcBef>
        <a:buClr>
          <a:schemeClr val="tx2"/>
        </a:buClr>
        <a:buSzPct val="73000"/>
        <a:buFont typeface="Wingdings 2"/>
        <a:buChar char=""/>
        <a:defRPr kumimoji="0" sz="2600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521208" indent="-228600" algn="l" rtl="0" eaLnBrk="1" latinLnBrk="0" hangingPunct="1">
        <a:spcBef>
          <a:spcPts val="500"/>
        </a:spcBef>
        <a:buClr>
          <a:schemeClr val="accent4"/>
        </a:buClr>
        <a:buSzPct val="80000"/>
        <a:buFont typeface="Wingdings 2"/>
        <a:buChar char=""/>
        <a:defRPr kumimoji="0" sz="2300" kern="1200">
          <a:solidFill>
            <a:schemeClr val="tx1">
              <a:tint val="85000"/>
            </a:schemeClr>
          </a:solidFill>
          <a:latin typeface="+mn-lt"/>
          <a:ea typeface="+mn-ea"/>
          <a:cs typeface="+mn-cs"/>
        </a:defRPr>
      </a:lvl2pPr>
      <a:lvl3pPr marL="758952" indent="-228600" algn="l" rtl="0" eaLnBrk="1" latinLnBrk="0" hangingPunct="1">
        <a:spcBef>
          <a:spcPts val="400"/>
        </a:spcBef>
        <a:buClr>
          <a:schemeClr val="accent4"/>
        </a:buClr>
        <a:buSzPct val="60000"/>
        <a:buFont typeface="Wingdings"/>
        <a:buChar char="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228600" algn="l" rtl="0" eaLnBrk="1" latinLnBrk="0" hangingPunct="1">
        <a:spcBef>
          <a:spcPct val="20000"/>
        </a:spcBef>
        <a:buClr>
          <a:schemeClr val="accent4"/>
        </a:buClr>
        <a:buSzPct val="80000"/>
        <a:buFont typeface="Wingdings 2"/>
        <a:buChar char=""/>
        <a:defRPr kumimoji="0" sz="2000" kern="1200">
          <a:solidFill>
            <a:schemeClr val="tx1">
              <a:tint val="85000"/>
            </a:schemeClr>
          </a:solidFill>
          <a:latin typeface="+mn-lt"/>
          <a:ea typeface="+mn-ea"/>
          <a:cs typeface="+mn-cs"/>
        </a:defRPr>
      </a:lvl4pPr>
      <a:lvl5pPr marL="1280160" indent="-228600" algn="l" rtl="0" eaLnBrk="1" latinLnBrk="0" hangingPunct="1">
        <a:spcBef>
          <a:spcPts val="400"/>
        </a:spcBef>
        <a:buClr>
          <a:schemeClr val="accent4"/>
        </a:buClr>
        <a:buSzPct val="70000"/>
        <a:buFont typeface="Wingdings"/>
        <a:buChar char="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1472184" indent="-182880" algn="l" rtl="0" eaLnBrk="1" latinLnBrk="0" hangingPunct="1">
        <a:spcBef>
          <a:spcPts val="400"/>
        </a:spcBef>
        <a:buClr>
          <a:schemeClr val="accent4"/>
        </a:buClr>
        <a:buSzPct val="80000"/>
        <a:buFont typeface="Wingdings 2"/>
        <a:buChar char=""/>
        <a:defRPr kumimoji="0" sz="1800" kern="1200">
          <a:solidFill>
            <a:schemeClr val="tx1">
              <a:tint val="85000"/>
            </a:schemeClr>
          </a:solidFill>
          <a:latin typeface="+mn-lt"/>
          <a:ea typeface="+mn-ea"/>
          <a:cs typeface="+mn-cs"/>
        </a:defRPr>
      </a:lvl6pPr>
      <a:lvl7pPr marL="1673352" indent="-182880" algn="l" rtl="0" eaLnBrk="1" latinLnBrk="0" hangingPunct="1">
        <a:spcBef>
          <a:spcPct val="20000"/>
        </a:spcBef>
        <a:buClr>
          <a:schemeClr val="accent4"/>
        </a:buClr>
        <a:buSzPct val="80000"/>
        <a:buFont typeface="Wingdings 2"/>
        <a:buChar char=""/>
        <a:defRPr kumimoji="0" sz="1600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1847088" indent="-182880" algn="l" rtl="0" eaLnBrk="1" latinLnBrk="0" hangingPunct="1">
        <a:spcBef>
          <a:spcPts val="300"/>
        </a:spcBef>
        <a:buClr>
          <a:schemeClr val="accent4"/>
        </a:buClr>
        <a:buSzPct val="100000"/>
        <a:buChar char="•"/>
        <a:defRPr kumimoji="0" sz="1600" kern="1200" baseline="0">
          <a:solidFill>
            <a:schemeClr val="tx1">
              <a:tint val="85000"/>
            </a:schemeClr>
          </a:solidFill>
          <a:latin typeface="+mn-lt"/>
          <a:ea typeface="+mn-ea"/>
          <a:cs typeface="+mn-cs"/>
        </a:defRPr>
      </a:lvl8pPr>
      <a:lvl9pPr marL="2057400" indent="-182880" algn="l" rtl="0" eaLnBrk="1" latinLnBrk="0" hangingPunct="1">
        <a:spcBef>
          <a:spcPct val="20000"/>
        </a:spcBef>
        <a:buClr>
          <a:schemeClr val="accent4"/>
        </a:buClr>
        <a:buSzPct val="100000"/>
        <a:buFont typeface="Wingdings"/>
        <a:buChar char="§"/>
        <a:defRPr kumimoji="0" sz="1400" kern="1200" baseline="0">
          <a:solidFill>
            <a:schemeClr val="tx1"/>
          </a:solidFill>
          <a:latin typeface="+mn-lt"/>
          <a:ea typeface="+mn-ea"/>
          <a:cs typeface="+mn-cs"/>
        </a:defRPr>
      </a:lvl9pPr>
      <a:extLst/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  <a:extLst/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fif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CA" dirty="0" smtClean="0"/>
              <a:t>BUSINESS SOLUTION FOR CREDIT CARD APPROVAL PREDICTION</a:t>
            </a:r>
            <a:endParaRPr lang="en-CA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347864" y="4365104"/>
            <a:ext cx="5114778" cy="1101248"/>
          </a:xfrm>
        </p:spPr>
        <p:txBody>
          <a:bodyPr>
            <a:normAutofit fontScale="77500" lnSpcReduction="20000"/>
          </a:bodyPr>
          <a:lstStyle/>
          <a:p>
            <a:pPr algn="l"/>
            <a:r>
              <a:rPr lang="en-US" dirty="0"/>
              <a:t>Presented To, The </a:t>
            </a:r>
            <a:r>
              <a:rPr lang="en-US" dirty="0" smtClean="0"/>
              <a:t>Technical Lead</a:t>
            </a:r>
            <a:endParaRPr lang="en-US" dirty="0"/>
          </a:p>
          <a:p>
            <a:pPr algn="l"/>
            <a:r>
              <a:rPr lang="en-US" dirty="0"/>
              <a:t>Presented By, Gibi Babu Maveliputhenpurayil, </a:t>
            </a:r>
          </a:p>
          <a:p>
            <a:pPr algn="l"/>
            <a:r>
              <a:rPr lang="en-US" dirty="0"/>
              <a:t>                           Data Scientist Team</a:t>
            </a:r>
          </a:p>
          <a:p>
            <a:pPr algn="l"/>
            <a:r>
              <a:rPr lang="en-US" dirty="0"/>
              <a:t>Presented On, </a:t>
            </a:r>
            <a:r>
              <a:rPr lang="en-US" dirty="0" smtClean="0"/>
              <a:t>2026-02-02</a:t>
            </a:r>
            <a:endParaRPr lang="en-US" dirty="0"/>
          </a:p>
          <a:p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14124110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CA" sz="3200" dirty="0" smtClean="0"/>
              <a:t>Problem identification</a:t>
            </a:r>
            <a:endParaRPr lang="en-CA" sz="32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Build </a:t>
            </a:r>
            <a:r>
              <a:rPr lang="en-US" dirty="0"/>
              <a:t>a machine learning model to predict credit card approval for bank </a:t>
            </a:r>
            <a:r>
              <a:rPr lang="en-US" dirty="0" smtClean="0"/>
              <a:t>customers </a:t>
            </a:r>
          </a:p>
          <a:p>
            <a:r>
              <a:rPr lang="en-US" dirty="0" smtClean="0"/>
              <a:t>Replace </a:t>
            </a:r>
            <a:r>
              <a:rPr lang="en-US" dirty="0"/>
              <a:t>manual review process that takes several days with an instant, automated decision </a:t>
            </a:r>
            <a:r>
              <a:rPr lang="en-US" dirty="0" smtClean="0"/>
              <a:t>system </a:t>
            </a:r>
          </a:p>
          <a:p>
            <a:r>
              <a:rPr lang="en-US" dirty="0" smtClean="0"/>
              <a:t>Improve </a:t>
            </a:r>
            <a:r>
              <a:rPr lang="en-US" dirty="0"/>
              <a:t>efficiency and </a:t>
            </a:r>
            <a:r>
              <a:rPr lang="en-US" dirty="0" smtClean="0"/>
              <a:t>reduce </a:t>
            </a:r>
            <a:r>
              <a:rPr lang="en-US" dirty="0"/>
              <a:t>operational costs.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6884051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1560" y="908720"/>
            <a:ext cx="7128792" cy="4752528"/>
          </a:xfrm>
        </p:spPr>
      </p:pic>
    </p:spTree>
    <p:extLst>
      <p:ext uri="{BB962C8B-B14F-4D97-AF65-F5344CB8AC3E}">
        <p14:creationId xmlns:p14="http://schemas.microsoft.com/office/powerpoint/2010/main" val="3396685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CA" sz="3200" dirty="0" smtClean="0"/>
              <a:t>Dataset </a:t>
            </a:r>
            <a:r>
              <a:rPr lang="en-CA" sz="3200" dirty="0"/>
              <a:t>d</a:t>
            </a:r>
            <a:r>
              <a:rPr lang="en-CA" sz="3200" dirty="0" smtClean="0"/>
              <a:t>etails</a:t>
            </a:r>
            <a:endParaRPr lang="en-CA" sz="32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Two datasets: </a:t>
            </a:r>
            <a:r>
              <a:rPr lang="en-US" dirty="0" err="1"/>
              <a:t>application_details</a:t>
            </a:r>
            <a:r>
              <a:rPr lang="en-US" dirty="0"/>
              <a:t> and </a:t>
            </a:r>
            <a:r>
              <a:rPr lang="en-US" dirty="0" err="1"/>
              <a:t>credit_details</a:t>
            </a:r>
            <a:endParaRPr lang="en-US" dirty="0"/>
          </a:p>
          <a:p>
            <a:r>
              <a:rPr lang="en-US" dirty="0"/>
              <a:t>Merged using customer ID</a:t>
            </a:r>
          </a:p>
          <a:p>
            <a:r>
              <a:rPr lang="en-US" dirty="0" smtClean="0"/>
              <a:t>First dataset:</a:t>
            </a:r>
          </a:p>
          <a:p>
            <a:pPr marL="0" indent="0">
              <a:buNone/>
            </a:pPr>
            <a:r>
              <a:rPr lang="en-US" dirty="0" smtClean="0"/>
              <a:t>        438557 records </a:t>
            </a:r>
            <a:r>
              <a:rPr lang="en-US" dirty="0"/>
              <a:t>and 27 </a:t>
            </a:r>
            <a:r>
              <a:rPr lang="en-US" dirty="0" smtClean="0"/>
              <a:t>features</a:t>
            </a:r>
            <a:endParaRPr lang="en-US" dirty="0"/>
          </a:p>
          <a:p>
            <a:r>
              <a:rPr lang="en-US" dirty="0" smtClean="0"/>
              <a:t>Final </a:t>
            </a:r>
            <a:r>
              <a:rPr lang="en-US" dirty="0"/>
              <a:t>dataset:</a:t>
            </a:r>
          </a:p>
          <a:p>
            <a:pPr marL="0" indent="0">
              <a:buNone/>
            </a:pPr>
            <a:r>
              <a:rPr lang="en-US" dirty="0" smtClean="0"/>
              <a:t>       36,457 records and 17 </a:t>
            </a:r>
            <a:r>
              <a:rPr lang="en-US" dirty="0"/>
              <a:t>features</a:t>
            </a:r>
          </a:p>
          <a:p>
            <a:r>
              <a:rPr lang="en-US" dirty="0"/>
              <a:t>Target variable:</a:t>
            </a:r>
          </a:p>
          <a:p>
            <a:pPr marL="0" indent="0">
              <a:buNone/>
            </a:pPr>
            <a:r>
              <a:rPr lang="en-US" dirty="0" smtClean="0"/>
              <a:t>       1 </a:t>
            </a:r>
            <a:r>
              <a:rPr lang="en-US" dirty="0"/>
              <a:t>→ Good customer</a:t>
            </a:r>
          </a:p>
          <a:p>
            <a:pPr marL="0" indent="0">
              <a:buNone/>
            </a:pPr>
            <a:r>
              <a:rPr lang="en-US" dirty="0" smtClean="0"/>
              <a:t>       0 </a:t>
            </a:r>
            <a:r>
              <a:rPr lang="en-US" dirty="0"/>
              <a:t>→ Bad customer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14805694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CA" sz="3200" dirty="0" smtClean="0"/>
              <a:t>DATA PROCESSING</a:t>
            </a:r>
            <a:endParaRPr lang="en-CA" sz="32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Cleaned missing and inconsistent values</a:t>
            </a:r>
          </a:p>
          <a:p>
            <a:r>
              <a:rPr lang="en-US" dirty="0"/>
              <a:t>Encoded categorical variables</a:t>
            </a:r>
          </a:p>
          <a:p>
            <a:r>
              <a:rPr lang="en-US" dirty="0"/>
              <a:t>Handled outliers in employment duration</a:t>
            </a:r>
          </a:p>
          <a:p>
            <a:r>
              <a:rPr lang="en-US" dirty="0"/>
              <a:t>Performed feature reduction after EDA</a:t>
            </a:r>
          </a:p>
          <a:p>
            <a:r>
              <a:rPr lang="en-US" dirty="0"/>
              <a:t>Addressed class imbalance during model evaluation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11634831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/>
          <p:nvPr/>
        </p:nvPicPr>
        <p:blipFill>
          <a:blip r:embed="rId2"/>
          <a:stretch>
            <a:fillRect/>
          </a:stretch>
        </p:blipFill>
        <p:spPr>
          <a:xfrm>
            <a:off x="424944" y="1075289"/>
            <a:ext cx="7004248" cy="5782711"/>
          </a:xfrm>
          <a:prstGeom prst="rect">
            <a:avLst/>
          </a:prstGeom>
        </p:spPr>
      </p:pic>
      <p:sp>
        <p:nvSpPr>
          <p:cNvPr id="3" name="Title 1"/>
          <p:cNvSpPr txBox="1">
            <a:spLocks/>
          </p:cNvSpPr>
          <p:nvPr/>
        </p:nvSpPr>
        <p:spPr>
          <a:xfrm>
            <a:off x="457200" y="320040"/>
            <a:ext cx="7239000" cy="1143000"/>
          </a:xfrm>
          <a:prstGeom prst="rect">
            <a:avLst/>
          </a:prstGeom>
        </p:spPr>
        <p:txBody>
          <a:bodyPr/>
          <a:lstStyle>
            <a:lvl1pPr algn="l" rtl="0" eaLnBrk="1" latinLnBrk="0" hangingPunct="1">
              <a:spcBef>
                <a:spcPct val="0"/>
              </a:spcBef>
              <a:buNone/>
              <a:defRPr kumimoji="0" sz="3800" b="1" kern="1200" cap="all" baseline="0">
                <a:ln w="500">
                  <a:solidFill>
                    <a:schemeClr val="tx2">
                      <a:shade val="20000"/>
                      <a:satMod val="120000"/>
                    </a:schemeClr>
                  </a:solidFill>
                </a:ln>
                <a:gradFill>
                  <a:gsLst>
                    <a:gs pos="0">
                      <a:schemeClr val="accent4">
                        <a:tint val="13000"/>
                      </a:schemeClr>
                    </a:gs>
                    <a:gs pos="10000">
                      <a:schemeClr val="accent4">
                        <a:tint val="20000"/>
                      </a:schemeClr>
                    </a:gs>
                    <a:gs pos="49000">
                      <a:schemeClr val="accent4">
                        <a:tint val="70000"/>
                      </a:schemeClr>
                    </a:gs>
                    <a:gs pos="50000">
                      <a:schemeClr val="accent4">
                        <a:tint val="97000"/>
                      </a:schemeClr>
                    </a:gs>
                    <a:gs pos="100000">
                      <a:schemeClr val="accent4">
                        <a:tint val="20000"/>
                      </a:schemeClr>
                    </a:gs>
                  </a:gsLst>
                  <a:lin ang="5400000" scaled="1"/>
                </a:gradFill>
                <a:effectLst/>
                <a:latin typeface="+mj-lt"/>
                <a:ea typeface="+mj-ea"/>
                <a:cs typeface="+mj-cs"/>
              </a:defRPr>
            </a:lvl1pPr>
            <a:extLst/>
          </a:lstStyle>
          <a:p>
            <a:r>
              <a:rPr lang="en-CA" dirty="0" smtClean="0"/>
              <a:t>Correlation heat map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2579235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CA" sz="3200" dirty="0" smtClean="0"/>
              <a:t>MODELS USED</a:t>
            </a:r>
            <a:endParaRPr lang="en-CA" sz="32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Logistic Regression</a:t>
            </a:r>
          </a:p>
          <a:p>
            <a:r>
              <a:rPr lang="en-CA" dirty="0"/>
              <a:t>K-Nearest Neighbors</a:t>
            </a:r>
          </a:p>
          <a:p>
            <a:r>
              <a:rPr lang="en-CA" dirty="0"/>
              <a:t>Decision Tree</a:t>
            </a:r>
          </a:p>
          <a:p>
            <a:r>
              <a:rPr lang="en-CA" dirty="0"/>
              <a:t>Random Forest</a:t>
            </a:r>
          </a:p>
          <a:p>
            <a:r>
              <a:rPr lang="en-CA" dirty="0"/>
              <a:t>Gradient Boosting (Final Model</a:t>
            </a:r>
            <a:r>
              <a:rPr lang="en-CA" dirty="0" smtClean="0"/>
              <a:t>)</a:t>
            </a:r>
          </a:p>
          <a:p>
            <a:endParaRPr lang="en-CA" dirty="0"/>
          </a:p>
          <a:p>
            <a:pPr marL="0" indent="0">
              <a:buNone/>
            </a:pPr>
            <a:r>
              <a:rPr lang="en-CA" dirty="0"/>
              <a:t>Evaluation Metric: F1-score (Macro)</a:t>
            </a:r>
          </a:p>
          <a:p>
            <a:pPr marL="0" indent="0">
              <a:buNone/>
            </a:pPr>
            <a:r>
              <a:rPr lang="en-CA" dirty="0"/>
              <a:t>Validation Method: K-Fold Cross-Validation</a:t>
            </a:r>
          </a:p>
        </p:txBody>
      </p:sp>
    </p:spTree>
    <p:extLst>
      <p:ext uri="{BB962C8B-B14F-4D97-AF65-F5344CB8AC3E}">
        <p14:creationId xmlns:p14="http://schemas.microsoft.com/office/powerpoint/2010/main" val="21655576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544" y="188640"/>
            <a:ext cx="7242048" cy="1143000"/>
          </a:xfrm>
        </p:spPr>
        <p:txBody>
          <a:bodyPr/>
          <a:lstStyle/>
          <a:p>
            <a:r>
              <a:rPr lang="en-CA" dirty="0" smtClean="0"/>
              <a:t>Model comparison</a:t>
            </a:r>
            <a:endParaRPr lang="en-CA" dirty="0"/>
          </a:p>
        </p:txBody>
      </p:sp>
      <p:pic>
        <p:nvPicPr>
          <p:cNvPr id="3" name="Picture 2"/>
          <p:cNvPicPr/>
          <p:nvPr/>
        </p:nvPicPr>
        <p:blipFill>
          <a:blip r:embed="rId2"/>
          <a:stretch>
            <a:fillRect/>
          </a:stretch>
        </p:blipFill>
        <p:spPr>
          <a:xfrm>
            <a:off x="251520" y="1700808"/>
            <a:ext cx="7128792" cy="4968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13643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CA" sz="3200" dirty="0" smtClean="0"/>
              <a:t>BEST MODEL</a:t>
            </a:r>
            <a:endParaRPr lang="en-CA" sz="32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/>
              <a:t>Gradient Boosting Classifier</a:t>
            </a:r>
          </a:p>
          <a:p>
            <a:endParaRPr lang="en-US" dirty="0"/>
          </a:p>
          <a:p>
            <a:r>
              <a:rPr lang="en-US" dirty="0"/>
              <a:t>Best balance between majority and minority classes</a:t>
            </a:r>
          </a:p>
          <a:p>
            <a:r>
              <a:rPr lang="en-US" dirty="0"/>
              <a:t>Strong generalization on test data</a:t>
            </a:r>
          </a:p>
          <a:p>
            <a:r>
              <a:rPr lang="en-US" dirty="0"/>
              <a:t>Stable cross-validation performance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17764604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 smtClean="0"/>
              <a:t>Feature importance</a:t>
            </a:r>
            <a:endParaRPr lang="en-CA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504" y="1916832"/>
            <a:ext cx="8134350" cy="4238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33908137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CA" sz="3200" dirty="0" smtClean="0"/>
              <a:t>RECOMMENDATIONS</a:t>
            </a:r>
            <a:endParaRPr lang="en-CA" sz="32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Enables instant credit approval decisions</a:t>
            </a:r>
          </a:p>
          <a:p>
            <a:r>
              <a:rPr lang="en-US" dirty="0"/>
              <a:t>Improves business efficiency</a:t>
            </a:r>
          </a:p>
          <a:p>
            <a:r>
              <a:rPr lang="en-US" dirty="0"/>
              <a:t>Reduces financial risk by identifying ineligible applicants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21566442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sz="3200" dirty="0" smtClean="0"/>
              <a:t>limitations</a:t>
            </a:r>
            <a:endParaRPr lang="en-CA" sz="32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Class imbalance impacts minority-class prediction</a:t>
            </a:r>
          </a:p>
          <a:p>
            <a:r>
              <a:rPr lang="en-US" dirty="0"/>
              <a:t>Synthetic oversampling may not fully reflect real-world data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106994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CA" sz="3200" dirty="0" smtClean="0"/>
              <a:t>Future improvements</a:t>
            </a:r>
            <a:endParaRPr lang="en-CA" sz="32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XGBoost</a:t>
            </a:r>
            <a:r>
              <a:rPr lang="en-US" dirty="0"/>
              <a:t> / </a:t>
            </a:r>
            <a:r>
              <a:rPr lang="en-US" dirty="0" err="1"/>
              <a:t>LightGBM</a:t>
            </a:r>
            <a:endParaRPr lang="en-US" dirty="0"/>
          </a:p>
          <a:p>
            <a:r>
              <a:rPr lang="en-US" dirty="0"/>
              <a:t>Cost-sensitive learning</a:t>
            </a:r>
          </a:p>
          <a:p>
            <a:r>
              <a:rPr lang="en-US" dirty="0"/>
              <a:t>Additional feature engineering</a:t>
            </a:r>
          </a:p>
          <a:p>
            <a:r>
              <a:rPr lang="en-US" dirty="0"/>
              <a:t>External data integration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41710973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CA" sz="3200" dirty="0" smtClean="0"/>
              <a:t>conclusion</a:t>
            </a:r>
            <a:endParaRPr lang="en-CA" sz="32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Model </a:t>
            </a:r>
            <a:r>
              <a:rPr lang="en-US" dirty="0"/>
              <a:t>identifies total income, age, and employment duration as the most influential predictors of </a:t>
            </a:r>
            <a:r>
              <a:rPr lang="en-US" dirty="0" smtClean="0"/>
              <a:t>STATUS</a:t>
            </a:r>
          </a:p>
          <a:p>
            <a:r>
              <a:rPr lang="en-US" dirty="0"/>
              <a:t>F</a:t>
            </a:r>
            <a:r>
              <a:rPr lang="en-US" dirty="0" smtClean="0"/>
              <a:t>inancial </a:t>
            </a:r>
            <a:r>
              <a:rPr lang="en-US" dirty="0"/>
              <a:t>stability and employment history play a key role in classifying customers as ‘Good’ or ‘Bad’.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26476801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24544" y="0"/>
            <a:ext cx="85725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78984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pulent">
  <a:themeElements>
    <a:clrScheme name="Opulent">
      <a:dk1>
        <a:sysClr val="windowText" lastClr="000000"/>
      </a:dk1>
      <a:lt1>
        <a:sysClr val="window" lastClr="FFFFFF"/>
      </a:lt1>
      <a:dk2>
        <a:srgbClr val="B13F9A"/>
      </a:dk2>
      <a:lt2>
        <a:srgbClr val="F4E7ED"/>
      </a:lt2>
      <a:accent1>
        <a:srgbClr val="B83D68"/>
      </a:accent1>
      <a:accent2>
        <a:srgbClr val="AC66BB"/>
      </a:accent2>
      <a:accent3>
        <a:srgbClr val="DE6C36"/>
      </a:accent3>
      <a:accent4>
        <a:srgbClr val="F9B639"/>
      </a:accent4>
      <a:accent5>
        <a:srgbClr val="CF6DA4"/>
      </a:accent5>
      <a:accent6>
        <a:srgbClr val="FA8D3D"/>
      </a:accent6>
      <a:hlink>
        <a:srgbClr val="FFDE66"/>
      </a:hlink>
      <a:folHlink>
        <a:srgbClr val="D490C5"/>
      </a:folHlink>
    </a:clrScheme>
    <a:fontScheme name="Opulent">
      <a:majorFont>
        <a:latin typeface="Trebuchet MS"/>
        <a:ea typeface=""/>
        <a:cs typeface=""/>
        <a:font script="Jpan" typeface="HG丸ｺﾞｼｯｸM-PRO"/>
        <a:font script="Hang" typeface="HY그래픽M"/>
        <a:font script="Hans" typeface="黑体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/>
        <a:ea typeface=""/>
        <a:cs typeface=""/>
        <a:font script="Jpan" typeface="HG丸ｺﾞｼｯｸM-PRO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pulent">
      <a:fillStyleLst>
        <a:solidFill>
          <a:schemeClr val="phClr"/>
        </a:solidFill>
        <a:gradFill rotWithShape="1">
          <a:gsLst>
            <a:gs pos="0">
              <a:schemeClr val="phClr">
                <a:tint val="15000"/>
                <a:satMod val="250000"/>
              </a:schemeClr>
            </a:gs>
            <a:gs pos="49000">
              <a:schemeClr val="phClr">
                <a:tint val="50000"/>
                <a:satMod val="200000"/>
              </a:schemeClr>
            </a:gs>
            <a:gs pos="49100">
              <a:schemeClr val="phClr">
                <a:tint val="64000"/>
                <a:satMod val="160000"/>
              </a:schemeClr>
            </a:gs>
            <a:gs pos="92000">
              <a:schemeClr val="phClr">
                <a:tint val="50000"/>
                <a:satMod val="200000"/>
              </a:schemeClr>
            </a:gs>
            <a:gs pos="100000">
              <a:schemeClr val="phClr">
                <a:tint val="43000"/>
                <a:satMod val="190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74000"/>
              </a:schemeClr>
            </a:gs>
            <a:gs pos="49000">
              <a:schemeClr val="phClr">
                <a:tint val="96000"/>
                <a:shade val="84000"/>
                <a:satMod val="110000"/>
              </a:schemeClr>
            </a:gs>
            <a:gs pos="49100">
              <a:schemeClr val="phClr">
                <a:shade val="55000"/>
                <a:satMod val="150000"/>
              </a:schemeClr>
            </a:gs>
            <a:gs pos="92000">
              <a:schemeClr val="phClr">
                <a:tint val="98000"/>
                <a:shade val="90000"/>
                <a:satMod val="128000"/>
              </a:schemeClr>
            </a:gs>
            <a:gs pos="100000">
              <a:schemeClr val="phClr">
                <a:tint val="90000"/>
                <a:shade val="97000"/>
                <a:satMod val="128000"/>
              </a:schemeClr>
            </a:gs>
          </a:gsLst>
          <a:lin ang="5400000" scaled="1"/>
        </a:gradFill>
      </a:fillStyleLst>
      <a:lnStyleLst>
        <a:ln w="11430" cap="flat" cmpd="sng" algn="ctr">
          <a:solidFill>
            <a:schemeClr val="phClr"/>
          </a:solidFill>
          <a:prstDash val="solid"/>
        </a:ln>
        <a:ln w="40000" cap="flat" cmpd="sng" algn="ctr">
          <a:solidFill>
            <a:schemeClr val="phClr"/>
          </a:solidFill>
          <a:prstDash val="solid"/>
        </a:ln>
        <a:ln w="318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0800" dist="25000" dir="5400000" rotWithShape="0">
              <a:schemeClr val="phClr">
                <a:shade val="30000"/>
                <a:satMod val="150000"/>
                <a:alpha val="38000"/>
              </a:schemeClr>
            </a:outerShdw>
          </a:effectLst>
        </a:effectStyle>
        <a:effectStyle>
          <a:effectLst>
            <a:outerShdw blurRad="39000" dist="25400" dir="5400000" rotWithShape="0">
              <a:schemeClr val="phClr">
                <a:shade val="33000"/>
                <a:alpha val="83000"/>
              </a:schemeClr>
            </a:outerShdw>
          </a:effectLst>
        </a:effectStyle>
        <a:effectStyle>
          <a:effectLst>
            <a:outerShdw blurRad="39000" dist="25400" dir="5400000" rotWithShape="0">
              <a:schemeClr val="phClr">
                <a:shade val="33000"/>
                <a:alpha val="83000"/>
              </a:schemeClr>
            </a:outerShdw>
          </a:effectLst>
          <a:scene3d>
            <a:camera prst="orthographicFront" fov="0">
              <a:rot lat="0" lon="0" rev="0"/>
            </a:camera>
            <a:lightRig rig="contrasting" dir="t">
              <a:rot lat="0" lon="0" rev="1500000"/>
            </a:lightRig>
          </a:scene3d>
          <a:sp3d extrusionH="127000" prstMaterial="powder">
            <a:bevelT w="50800" h="635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78000"/>
                <a:satMod val="220000"/>
              </a:schemeClr>
            </a:gs>
            <a:gs pos="100000">
              <a:schemeClr val="phClr">
                <a:shade val="35000"/>
                <a:satMod val="155000"/>
              </a:schemeClr>
            </a:gs>
          </a:gsLst>
          <a:path path="circle">
            <a:fillToRect l="50000" t="50000" r="50000" b="50000"/>
          </a:path>
        </a:gradFill>
        <a:blipFill>
          <a:blip xmlns:r="http://schemas.openxmlformats.org/officeDocument/2006/relationships" r:embed="rId1">
            <a:duotone>
              <a:schemeClr val="phClr">
                <a:shade val="60000"/>
                <a:satMod val="180000"/>
              </a:schemeClr>
              <a:schemeClr val="phClr">
                <a:tint val="500"/>
                <a:satMod val="150000"/>
              </a:schemeClr>
            </a:duotone>
          </a:blip>
          <a:tile tx="0" ty="0" sx="50000" sy="50000" flip="none" algn="tl"/>
        </a:blip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Opulent</Template>
  <TotalTime>74</TotalTime>
  <Words>270</Words>
  <Application>Microsoft Office PowerPoint</Application>
  <PresentationFormat>On-screen Show (4:3)</PresentationFormat>
  <Paragraphs>58</Paragraphs>
  <Slides>15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6" baseType="lpstr">
      <vt:lpstr>Opulent</vt:lpstr>
      <vt:lpstr>BUSINESS SOLUTION FOR CREDIT CARD APPROVAL PREDICTION</vt:lpstr>
      <vt:lpstr>Problem identification</vt:lpstr>
      <vt:lpstr>PowerPoint Presentation</vt:lpstr>
      <vt:lpstr>Dataset details</vt:lpstr>
      <vt:lpstr>DATA PROCESSING</vt:lpstr>
      <vt:lpstr>PowerPoint Presentation</vt:lpstr>
      <vt:lpstr>MODELS USED</vt:lpstr>
      <vt:lpstr>Model comparison</vt:lpstr>
      <vt:lpstr>BEST MODEL</vt:lpstr>
      <vt:lpstr>Feature importance</vt:lpstr>
      <vt:lpstr>RECOMMENDATIONS</vt:lpstr>
      <vt:lpstr>limitations</vt:lpstr>
      <vt:lpstr>Future improvements</vt:lpstr>
      <vt:lpstr>conclusion</vt:lpstr>
      <vt:lpstr>PowerPoint Presentation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CREDIT CARD APPROVAL PREDICTION</dc:title>
  <dc:creator>gibib</dc:creator>
  <cp:lastModifiedBy>gibib</cp:lastModifiedBy>
  <cp:revision>12</cp:revision>
  <dcterms:created xsi:type="dcterms:W3CDTF">2026-02-02T13:30:42Z</dcterms:created>
  <dcterms:modified xsi:type="dcterms:W3CDTF">2026-02-02T14:46:14Z</dcterms:modified>
</cp:coreProperties>
</file>